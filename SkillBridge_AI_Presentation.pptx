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4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0288E"/>
          </a:solidFill>
          <a:ln w="12700">
            <a:solidFill>
              <a:srgbClr val="0028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ARTPARK CODEFORGE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SkillBridge AI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8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Onboarding Engine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993392"/>
            <a:ext cx="22860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214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onboarding uses one-size-fits-all curricula. A 10-year veteran and a fresh graduate receive the same modules — wasting 40% of training time.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41071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adaptive engine that tests real skill levels and generates a personalized learning roadmap — grounded strictly in a curated course catalog.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" y="4251960"/>
            <a:ext cx="5394960" cy="685800"/>
          </a:xfrm>
          <a:prstGeom prst="rect">
            <a:avLst/>
          </a:prstGeom>
          <a:solidFill>
            <a:srgbClr val="001A5E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4251960"/>
            <a:ext cx="54864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43159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ONE RUPEE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0624" y="45262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Manoj Kumar V   |   Prajwal Gowda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0624" y="473659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Visvesvaraya Technological University, Belagavi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502920"/>
            <a:ext cx="2743200" cy="1261872"/>
          </a:xfrm>
          <a:prstGeom prst="rect">
            <a:avLst/>
          </a:prstGeom>
          <a:solidFill>
            <a:srgbClr val="001A5E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0" y="59436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126480" y="12344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1965960"/>
            <a:ext cx="2743200" cy="1261872"/>
          </a:xfrm>
          <a:prstGeom prst="rect">
            <a:avLst/>
          </a:prstGeom>
          <a:solidFill>
            <a:srgbClr val="001A5E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26480" y="205740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126480" y="2697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3429000"/>
            <a:ext cx="2743200" cy="1261872"/>
          </a:xfrm>
          <a:prstGeom prst="rect">
            <a:avLst/>
          </a:prstGeom>
          <a:solidFill>
            <a:srgbClr val="001A5E"/>
          </a:solidFill>
          <a:ln w="12700">
            <a:solidFill>
              <a:srgbClr val="1E40A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26480" y="352044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6126480" y="4160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1453"/>
          </a:solidFill>
          <a:ln w="12700">
            <a:solidFill>
              <a:srgbClr val="0014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WORKFLOW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868680"/>
            <a:ext cx="822960" cy="822960"/>
          </a:xfrm>
          <a:prstGeom prst="ellipse">
            <a:avLst/>
          </a:prstGeom>
          <a:solidFill>
            <a:srgbClr val="00288E"/>
          </a:solidFill>
          <a:ln w="12700">
            <a:solidFill>
              <a:srgbClr val="0028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68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874520"/>
            <a:ext cx="1554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2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22402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PDF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Job Description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92808" y="1234440"/>
            <a:ext cx="146304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868680"/>
            <a:ext cx="822960" cy="82296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59152" y="868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039112" y="1874520"/>
            <a:ext cx="1554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039112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39112" y="22402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extracts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+ confidence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11880" y="1234440"/>
            <a:ext cx="146304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78224" y="868680"/>
            <a:ext cx="822960" cy="8229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78224" y="868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758184" y="1874520"/>
            <a:ext cx="1554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758184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58184" y="22402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diagnostic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(JD-relevant only)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30952" y="1234440"/>
            <a:ext cx="146304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97296" y="868680"/>
            <a:ext cx="822960" cy="822960"/>
          </a:xfrm>
          <a:prstGeom prst="ellipse">
            <a:avLst/>
          </a:prstGeom>
          <a:solidFill>
            <a:srgbClr val="7433D1"/>
          </a:solidFill>
          <a:ln w="12700">
            <a:solidFill>
              <a:srgbClr val="7433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97296" y="868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5477256" y="1874520"/>
            <a:ext cx="1554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77256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43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77256" y="22402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gap analysis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vs test vs JD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50024" y="1234440"/>
            <a:ext cx="146304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16368" y="868680"/>
            <a:ext cx="822960" cy="8229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16368" y="868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7196328" y="1874520"/>
            <a:ext cx="1554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196328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196328" y="22402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path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reasoning trace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20040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200400"/>
            <a:ext cx="73152" cy="1645920"/>
          </a:xfrm>
          <a:prstGeom prst="rect">
            <a:avLst/>
          </a:prstGeom>
          <a:solidFill>
            <a:srgbClr val="00288E"/>
          </a:solidFill>
          <a:ln w="12700">
            <a:solidFill>
              <a:srgbClr val="00288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291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2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361188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Resume PDF (any format)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Job Description text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Confirmed skill list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MCQ test answers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37760" y="3200400"/>
            <a:ext cx="39319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937760" y="3200400"/>
            <a:ext cx="73152" cy="1645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0" y="3291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20640" y="361188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Personalized learning roadmap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AI reasoning trace per skill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Skill reality check (test scores)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Downloadable PDF report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14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1A5E"/>
          </a:solidFill>
          <a:ln w="12700">
            <a:solidFill>
              <a:srgbClr val="001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MODELS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651760" cy="1737360"/>
          </a:xfrm>
          <a:prstGeom prst="rect">
            <a:avLst/>
          </a:prstGeom>
          <a:solidFill>
            <a:srgbClr val="001A5E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265176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12070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0040" y="16916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6-screen SPA with step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and animations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822960"/>
            <a:ext cx="2651760" cy="1737360"/>
          </a:xfrm>
          <a:prstGeom prst="rect">
            <a:avLst/>
          </a:prstGeom>
          <a:solidFill>
            <a:srgbClr val="001A5E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822960"/>
            <a:ext cx="265176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9601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0" y="12070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00400" y="16916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REST endpoints, CORS,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ASGI server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822960"/>
            <a:ext cx="2651760" cy="1737360"/>
          </a:xfrm>
          <a:prstGeom prst="rect">
            <a:avLst/>
          </a:prstGeom>
          <a:solidFill>
            <a:srgbClr val="001A5E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822960"/>
            <a:ext cx="26517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96012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MODEL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080760" y="12070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080760" y="16916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 — NLP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+ MCQ generation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834640"/>
            <a:ext cx="2651760" cy="1737360"/>
          </a:xfrm>
          <a:prstGeom prst="rect">
            <a:avLst/>
          </a:prstGeom>
          <a:solidFill>
            <a:srgbClr val="001A5E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834640"/>
            <a:ext cx="265176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9718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PARSING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0040" y="32186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20040" y="37033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raw text from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resume PDF format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834640"/>
            <a:ext cx="2651760" cy="1737360"/>
          </a:xfrm>
          <a:prstGeom prst="rect">
            <a:avLst/>
          </a:prstGeom>
          <a:solidFill>
            <a:srgbClr val="001A5E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834640"/>
            <a:ext cx="265176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29718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200400" y="32186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200400" y="37033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CSS with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Symbols icons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0760" y="2834640"/>
            <a:ext cx="2651760" cy="1737360"/>
          </a:xfrm>
          <a:prstGeom prst="rect">
            <a:avLst/>
          </a:prstGeom>
          <a:solidFill>
            <a:srgbClr val="001A5E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0760" y="2834640"/>
            <a:ext cx="2651760" cy="6400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0760" y="29718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EXPORT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080760" y="32186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html2pdf.js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080760" y="37033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roadmap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download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LLM calls use the official Google GenAI Python SDK (google-genai). Zero external training — model used via API only. No fine-tuning required.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1453"/>
          </a:solidFill>
          <a:ln w="12700">
            <a:solidFill>
              <a:srgbClr val="0014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&amp; ADAPTIVE PATHING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2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EXTRACTION LOGIC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3200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411480" cy="804672"/>
          </a:xfrm>
          <a:prstGeom prst="rect">
            <a:avLst/>
          </a:prstGeom>
          <a:solidFill>
            <a:srgbClr val="00288E"/>
          </a:solidFill>
          <a:ln w="12700">
            <a:solidFill>
              <a:srgbClr val="0028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78992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115214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Parsing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40817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extracts skill names, years, confidence scores from raw resume text.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039112"/>
            <a:ext cx="3200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039112"/>
            <a:ext cx="411480" cy="80467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039112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211226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Requirement Mapping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236829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parsed for required skills with proficiency level (Beginner / Intermediate / Advanced).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999232"/>
            <a:ext cx="3200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99232"/>
            <a:ext cx="411480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99232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307238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Tracing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332841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diagnostic test verifies claimed skills. Score mapped to verified proficiency level.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4005072"/>
            <a:ext cx="3200400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0690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02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TRACING — Score → Level Mapping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5760" y="431596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40%  →  Beginner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448970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– 70%  →  Intermediate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66344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– 100%  →  Advanced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03320" y="749808"/>
            <a:ext cx="36576" cy="42062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86200" y="7498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43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PATHING — DAG ALGORITHM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886200" y="1078992"/>
            <a:ext cx="4983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886200" y="1078992"/>
            <a:ext cx="457200" cy="566928"/>
          </a:xfrm>
          <a:prstGeom prst="rect">
            <a:avLst/>
          </a:prstGeom>
          <a:solidFill>
            <a:srgbClr val="00288E"/>
          </a:solidFill>
          <a:ln w="12700">
            <a:solidFill>
              <a:srgbClr val="00288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86200" y="107899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34840" y="1124712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Gap Analysis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34840" y="1335024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resume claim vs KT test score vs JD requirement. Classifies each skill: MISSING / GAP / SUFFICIENT.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886200" y="1737360"/>
            <a:ext cx="4983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886200" y="1737360"/>
            <a:ext cx="457200" cy="5669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86200" y="17373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434840" y="1783080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Prerequisite Resolution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434840" y="199339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 map forms a Directed Acyclic Graph. Missing foundations auto-injected before advanced nodes.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886200" y="2395728"/>
            <a:ext cx="4983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886200" y="2395728"/>
            <a:ext cx="4572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86200" y="239572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434840" y="2441448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Catalog-Grounded Matching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434840" y="265176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hallucinations. Every node matched against 44-course catalog. Unmatched skills → NOT_AVAILABLE.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886200" y="3054096"/>
            <a:ext cx="4983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886200" y="3054096"/>
            <a:ext cx="457200" cy="566928"/>
          </a:xfrm>
          <a:prstGeom prst="rect">
            <a:avLst/>
          </a:prstGeom>
          <a:solidFill>
            <a:srgbClr val="7433D1"/>
          </a:solidFill>
          <a:ln w="12700">
            <a:solidFill>
              <a:srgbClr val="7433D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86200" y="305409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434840" y="3099816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43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Topological Ordering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434840" y="3310128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traversal produces parallel tracks (no dependency) and sequential chains (dependency exists).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886200" y="3712464"/>
            <a:ext cx="4983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886200" y="3712464"/>
            <a:ext cx="457200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86200" y="371246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434840" y="3758184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Metric Calculation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434840" y="3968496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skipped × 2 days = days saved. Based on standard 2-day corporate onboarding module estimate.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886200" y="4407408"/>
            <a:ext cx="498348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77640" y="447141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28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937760" y="447141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claims are NEVER trusted. Knowledge Tracing via MCQ overrides resume self-assessment before DAG traversal begins.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14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1A5E"/>
          </a:solidFill>
          <a:ln w="12700">
            <a:solidFill>
              <a:srgbClr val="001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VALIDATION METRICS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USED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846320" cy="1024128"/>
          </a:xfrm>
          <a:prstGeom prst="rect">
            <a:avLst/>
          </a:prstGeom>
          <a:solidFill>
            <a:srgbClr val="001A5E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64008" cy="10241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34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O*NET Database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490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onetcenter.org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912" y="167335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taxonomy and job role definitions used to design the 44-course catalog skill names and 6 domain categories.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350008"/>
            <a:ext cx="4846320" cy="1024128"/>
          </a:xfrm>
          <a:prstGeom prst="rect">
            <a:avLst/>
          </a:prstGeom>
          <a:solidFill>
            <a:srgbClr val="001A5E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50008"/>
            <a:ext cx="64008" cy="10241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4414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Dataset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" y="26974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snehaanbhawal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8912" y="28803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LLM resume parser accuracy across diverse resume formats, layouts and industries.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557016"/>
            <a:ext cx="4846320" cy="1024128"/>
          </a:xfrm>
          <a:prstGeom prst="rect">
            <a:avLst/>
          </a:prstGeom>
          <a:solidFill>
            <a:srgbClr val="001A5E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557016"/>
            <a:ext cx="64008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6484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&amp; JD Dataset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" y="390448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kshitizregmi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8912" y="4087368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JD parser across diverse job categories including tech, HR, and operations roles.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0" y="777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METRICS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0" y="1143000"/>
            <a:ext cx="1600200" cy="1024128"/>
          </a:xfrm>
          <a:prstGeom prst="rect">
            <a:avLst/>
          </a:prstGeom>
          <a:solidFill>
            <a:srgbClr val="001A5E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0" y="1143000"/>
            <a:ext cx="16002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12801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85–95%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486400" y="17099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Parsing Confidence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23760" y="1143000"/>
            <a:ext cx="1600200" cy="1024128"/>
          </a:xfrm>
          <a:prstGeom prst="rect">
            <a:avLst/>
          </a:prstGeom>
          <a:solidFill>
            <a:srgbClr val="001A5E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223760" y="1143000"/>
            <a:ext cx="16002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12801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223760" y="17099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Skill Extraction Accuracy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0" y="2350008"/>
            <a:ext cx="1600200" cy="1024128"/>
          </a:xfrm>
          <a:prstGeom prst="rect">
            <a:avLst/>
          </a:prstGeom>
          <a:solidFill>
            <a:srgbClr val="001A5E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0" y="2350008"/>
            <a:ext cx="160020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0" y="248716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35–45%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486400" y="2916936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Modules Skipped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23760" y="2350008"/>
            <a:ext cx="1600200" cy="1024128"/>
          </a:xfrm>
          <a:prstGeom prst="rect">
            <a:avLst/>
          </a:prstGeom>
          <a:solidFill>
            <a:srgbClr val="001A5E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223760" y="2350008"/>
            <a:ext cx="1600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23760" y="248716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days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223760" y="2916936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Saved per New Hire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0" y="3557016"/>
            <a:ext cx="1600200" cy="1024128"/>
          </a:xfrm>
          <a:prstGeom prst="rect">
            <a:avLst/>
          </a:prstGeom>
          <a:solidFill>
            <a:srgbClr val="001A5E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86400" y="3557016"/>
            <a:ext cx="16002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0" y="3694176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5486400" y="4123944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Courses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223760" y="3557016"/>
            <a:ext cx="1600200" cy="1024128"/>
          </a:xfrm>
          <a:prstGeom prst="rect">
            <a:avLst/>
          </a:prstGeom>
          <a:solidFill>
            <a:srgbClr val="001A5E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223760" y="3557016"/>
            <a:ext cx="160020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23760" y="3694176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7223760" y="4123944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Covered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4645152"/>
            <a:ext cx="9144000" cy="384048"/>
          </a:xfrm>
          <a:prstGeom prst="rect">
            <a:avLst/>
          </a:prstGeom>
          <a:solidFill>
            <a:srgbClr val="001A5E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64515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B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One Rupee  |  Manoj Kumar V  &amp;  Prajwal Gowda  |  VTU Belagavi  |  github.com/SVM3116/skillbridge-ai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SkillBridge AI — ARTPARK CodeForge 2026</dc:title>
  <dc:subject>PptxGenJS Presentation</dc:subject>
  <dc:creator>PptxGenJS</dc:creator>
  <cp:lastModifiedBy>PptxGenJS</cp:lastModifiedBy>
  <cp:revision>1</cp:revision>
  <dcterms:created xsi:type="dcterms:W3CDTF">2026-03-21T05:05:28Z</dcterms:created>
  <dcterms:modified xsi:type="dcterms:W3CDTF">2026-03-21T05:05:28Z</dcterms:modified>
</cp:coreProperties>
</file>